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89" d="100"/>
          <a:sy n="89" d="100"/>
        </p:scale>
        <p:origin x="-120" y="-168"/>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noProof="0"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noProof="0"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noProof="0"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675957" y="3508610"/>
            <a:ext cx="6467121" cy="861497"/>
          </a:xfrm>
        </p:spPr>
        <p:txBody>
          <a:bodyPr vert="horz" lIns="91440" tIns="45720" rIns="91440" bIns="45720" rtlCol="0" anchor="t">
            <a:normAutofit fontScale="85000" lnSpcReduction="10000"/>
          </a:bodyPr>
          <a:lstStyle/>
          <a:p>
            <a:r>
              <a:rPr lang="en-US" b="0" dirty="0" smtClean="0">
                <a:solidFill>
                  <a:schemeClr val="tx1"/>
                </a:solidFill>
              </a:rPr>
              <a:t>Student Name : </a:t>
            </a:r>
            <a:r>
              <a:rPr lang="en-US" b="0" dirty="0" err="1" smtClean="0">
                <a:solidFill>
                  <a:schemeClr val="tx1"/>
                </a:solidFill>
              </a:rPr>
              <a:t>Arpit</a:t>
            </a:r>
            <a:r>
              <a:rPr lang="en-US" b="0" dirty="0" smtClean="0">
                <a:solidFill>
                  <a:schemeClr val="tx1"/>
                </a:solidFill>
              </a:rPr>
              <a:t> Kumar Sharma </a:t>
            </a:r>
            <a:endParaRPr lang="en-IN" b="0" dirty="0">
              <a:solidFill>
                <a:schemeClr val="tx1"/>
              </a:solidFill>
            </a:endParaRPr>
          </a:p>
          <a:p>
            <a:r>
              <a:rPr lang="en-US" b="0" dirty="0">
                <a:solidFill>
                  <a:schemeClr val="tx1"/>
                </a:solidFill>
              </a:rPr>
              <a:t>College Name- </a:t>
            </a:r>
            <a:r>
              <a:rPr lang="en-US" b="0" dirty="0" smtClean="0">
                <a:solidFill>
                  <a:schemeClr val="tx1"/>
                </a:solidFill>
              </a:rPr>
              <a:t>Ashoka Institute Of Technology and Management</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4" y="2844750"/>
            <a:ext cx="9034596" cy="743448"/>
          </a:xfrm>
        </p:spPr>
        <p:txBody>
          <a:bodyPr>
            <a:normAutofit fontScale="90000"/>
          </a:bodyPr>
          <a:lstStyle/>
          <a:p>
            <a:r>
              <a:rPr lang="en-GB" dirty="0"/>
              <a:t>Project Title </a:t>
            </a:r>
            <a:r>
              <a:rPr lang="en-GB" dirty="0" smtClean="0"/>
              <a:t>–Seasonal Agriculture Performance Analysis</a:t>
            </a:r>
            <a:endParaRPr lang="en-IN"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774551" y="4576469"/>
            <a:ext cx="5626249" cy="369332"/>
          </a:xfrm>
          <a:prstGeom prst="rect">
            <a:avLst/>
          </a:prstGeom>
          <a:noFill/>
        </p:spPr>
        <p:txBody>
          <a:bodyPr wrap="square" rtlCol="0">
            <a:spAutoFit/>
          </a:bodyPr>
          <a:lstStyle/>
          <a:p>
            <a:r>
              <a:rPr lang="en-US" b="1" dirty="0"/>
              <a:t>AICTE STU ID </a:t>
            </a:r>
            <a:r>
              <a:rPr lang="en-US" b="1" dirty="0" smtClean="0"/>
              <a:t>: STU61cf1533266dd1640961331</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24965" y="2187528"/>
            <a:ext cx="6431280" cy="2965385"/>
          </a:xfrm>
        </p:spPr>
        <p:txBody>
          <a:bodyPr vert="horz" lIns="91440" tIns="45720" rIns="91440" bIns="45720" rtlCol="0" anchor="t">
            <a:normAutofit/>
          </a:bodyPr>
          <a:lstStyle/>
          <a:p>
            <a:pPr>
              <a:lnSpc>
                <a:spcPct val="100000"/>
              </a:lnSpc>
            </a:pPr>
            <a:r>
              <a:rPr lang="en-US" sz="1400" dirty="0" smtClean="0"/>
              <a:t>Agricultural </a:t>
            </a:r>
            <a:r>
              <a:rPr lang="en-US" sz="1400" dirty="0"/>
              <a:t>activities are influenced by seasonal variations in environmental conditions, farming practices, resource availability and market conditions</a:t>
            </a:r>
            <a:r>
              <a:rPr lang="en-US" sz="1400" dirty="0" smtClean="0"/>
              <a:t>.</a:t>
            </a:r>
          </a:p>
          <a:p>
            <a:pPr>
              <a:lnSpc>
                <a:spcPct val="100000"/>
              </a:lnSpc>
            </a:pPr>
            <a:r>
              <a:rPr lang="en-US" sz="1400" dirty="0" smtClean="0"/>
              <a:t> </a:t>
            </a:r>
            <a:r>
              <a:rPr lang="en-US" sz="1400" dirty="0"/>
              <a:t>As a result, agricultural performance may differ from one season to another. However, raw agricultural data does not clearly explain how agricultural performance changes across seasons or what patterns can be observed in different seasonal conditions. </a:t>
            </a:r>
            <a:endParaRPr lang="en-US" sz="1400" dirty="0" smtClean="0"/>
          </a:p>
          <a:p>
            <a:pPr>
              <a:lnSpc>
                <a:spcPct val="100000"/>
              </a:lnSpc>
            </a:pPr>
            <a:r>
              <a:rPr lang="en-US" sz="1400" dirty="0" smtClean="0"/>
              <a:t>The </a:t>
            </a:r>
            <a:r>
              <a:rPr lang="en-US" sz="1400" dirty="0"/>
              <a:t>problem is to analyze the given agricultural dataset and investigate seasonal differences in agricultural performance by identifying meaningful patterns, trends, relationships and variations within the available data.</a:t>
            </a:r>
            <a:endParaRPr lang="en-IN" sz="14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a:t>
            </a:r>
            <a:r>
              <a:rPr lang="en-GB" dirty="0" smtClean="0"/>
              <a:t>Description</a:t>
            </a:r>
            <a:br>
              <a:rPr lang="en-GB" dirty="0" smtClean="0"/>
            </a:br>
            <a:r>
              <a:rPr lang="en-GB" dirty="0" smtClean="0"/>
              <a:t/>
            </a:r>
            <a:br>
              <a:rPr lang="en-GB" dirty="0" smtClean="0"/>
            </a:br>
            <a:r>
              <a:rPr lang="en-US" sz="2000" dirty="0"/>
              <a:t/>
            </a:r>
            <a:br>
              <a:rPr lang="en-US" sz="2000" dirty="0"/>
            </a:br>
            <a:r>
              <a:rPr lang="en-US" sz="1800" dirty="0"/>
              <a:t>This </a:t>
            </a:r>
            <a:r>
              <a:rPr lang="en-US" sz="1600" dirty="0"/>
              <a:t>project</a:t>
            </a:r>
            <a:r>
              <a:rPr lang="en-US" sz="1800" dirty="0"/>
              <a:t> analyzes agricultural performance across different seasons, regions, and farming conditions</a:t>
            </a:r>
            <a:r>
              <a:rPr lang="en-US" sz="1800" dirty="0" smtClean="0"/>
              <a:t>.</a:t>
            </a:r>
            <a:br>
              <a:rPr lang="en-US" sz="1800" dirty="0" smtClean="0"/>
            </a:br>
            <a:r>
              <a:rPr lang="en-US" sz="1800" dirty="0"/>
              <a:t/>
            </a:r>
            <a:br>
              <a:rPr lang="en-US" sz="1800" dirty="0"/>
            </a:br>
            <a:r>
              <a:rPr lang="en-US" sz="1800" dirty="0"/>
              <a:t>It examines seasonal patterns, trends, resource usage, environmental factors, and economic outcomes</a:t>
            </a:r>
            <a:r>
              <a:rPr lang="en-US" sz="1800" dirty="0" smtClean="0"/>
              <a:t>.</a:t>
            </a:r>
            <a:br>
              <a:rPr lang="en-US" sz="1800" dirty="0" smtClean="0"/>
            </a:br>
            <a:r>
              <a:rPr lang="en-US" sz="1800" dirty="0"/>
              <a:t/>
            </a:r>
            <a:br>
              <a:rPr lang="en-US" sz="1800" dirty="0"/>
            </a:br>
            <a:r>
              <a:rPr lang="en-US" sz="1800" dirty="0"/>
              <a:t>The analysis involves data cleaning, statistical techniques, visualization, and comparison of seasonal performance</a:t>
            </a:r>
            <a:r>
              <a:rPr lang="en-US" sz="1800" dirty="0" smtClean="0"/>
              <a:t>.</a:t>
            </a:r>
            <a:br>
              <a:rPr lang="en-US" sz="1800" dirty="0" smtClean="0"/>
            </a:br>
            <a:r>
              <a:rPr lang="en-US" sz="1800" dirty="0"/>
              <a:t/>
            </a:r>
            <a:br>
              <a:rPr lang="en-US" sz="1800" dirty="0"/>
            </a:br>
            <a:r>
              <a:rPr lang="en-US" sz="1800" dirty="0"/>
              <a:t>The project aims to identify meaningful relationships, variations, and unusual patterns from the dataset</a:t>
            </a:r>
            <a:r>
              <a:rPr lang="en-US" sz="1800" dirty="0" smtClean="0"/>
              <a:t>.</a:t>
            </a:r>
            <a:br>
              <a:rPr lang="en-US" sz="1800" dirty="0" smtClean="0"/>
            </a:br>
            <a:r>
              <a:rPr lang="en-US" sz="1800" dirty="0"/>
              <a:t/>
            </a:r>
            <a:br>
              <a:rPr lang="en-US" sz="1800" dirty="0"/>
            </a:br>
            <a:r>
              <a:rPr lang="en-US" sz="1800" dirty="0"/>
              <a:t>The findings provide evidence-based insights and recommendations to support better seasonal agricultural planning.</a:t>
            </a:r>
            <a:br>
              <a:rPr lang="en-US" sz="1800" dirty="0"/>
            </a:br>
            <a:r>
              <a:rPr lang="en-GB" sz="2000" dirty="0"/>
              <a:t/>
            </a:r>
            <a:br>
              <a:rPr lang="en-GB" sz="2000" dirty="0"/>
            </a:br>
            <a:endParaRPr lang="en-IN" sz="200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sz="3600" dirty="0" smtClean="0"/>
              <a:t>Farmers</a:t>
            </a:r>
          </a:p>
          <a:p>
            <a:pPr algn="just">
              <a:lnSpc>
                <a:spcPct val="150000"/>
              </a:lnSpc>
            </a:pPr>
            <a:r>
              <a:rPr lang="en-IN" sz="3600" dirty="0" smtClean="0"/>
              <a:t>Students</a:t>
            </a:r>
          </a:p>
          <a:p>
            <a:pPr algn="just">
              <a:lnSpc>
                <a:spcPct val="150000"/>
              </a:lnSpc>
            </a:pPr>
            <a:r>
              <a:rPr lang="en-IN" sz="3600" dirty="0" smtClean="0"/>
              <a:t>Customers</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381298" y="3847976"/>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smtClean="0"/>
              <a:t>Pandas</a:t>
            </a:r>
          </a:p>
          <a:p>
            <a:pPr lvl="1">
              <a:lnSpc>
                <a:spcPct val="150000"/>
              </a:lnSpc>
            </a:pPr>
            <a:r>
              <a:rPr lang="en-IN" dirty="0" err="1" smtClean="0"/>
              <a:t>Numpy</a:t>
            </a:r>
            <a:endParaRPr lang="en-IN" dirty="0" smtClean="0"/>
          </a:p>
          <a:p>
            <a:pPr lvl="1">
              <a:lnSpc>
                <a:spcPct val="150000"/>
              </a:lnSpc>
            </a:pPr>
            <a:r>
              <a:rPr lang="en-IN" dirty="0" err="1" smtClean="0"/>
              <a:t>Matplotlib</a:t>
            </a:r>
            <a:endParaRPr lang="en-IN" dirty="0" smtClean="0"/>
          </a:p>
          <a:p>
            <a:pPr lvl="1">
              <a:lnSpc>
                <a:spcPct val="150000"/>
              </a:lnSpc>
            </a:pPr>
            <a:r>
              <a:rPr lang="en-IN" dirty="0" err="1" smtClean="0"/>
              <a:t>Seaborn</a:t>
            </a: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245" y="1406281"/>
            <a:ext cx="7373023" cy="3443977"/>
          </a:xfrm>
          <a:prstGeom prst="rect">
            <a:avLst/>
          </a:prstGeom>
        </p:spPr>
      </p:pic>
      <p:sp>
        <p:nvSpPr>
          <p:cNvPr id="3" name="TextBox 2"/>
          <p:cNvSpPr txBox="1"/>
          <p:nvPr/>
        </p:nvSpPr>
        <p:spPr>
          <a:xfrm>
            <a:off x="1215614" y="5271247"/>
            <a:ext cx="7097520" cy="369332"/>
          </a:xfrm>
          <a:prstGeom prst="rect">
            <a:avLst/>
          </a:prstGeom>
          <a:noFill/>
        </p:spPr>
        <p:txBody>
          <a:bodyPr wrap="none" rtlCol="0">
            <a:spAutoFit/>
          </a:bodyPr>
          <a:lstStyle/>
          <a:p>
            <a:r>
              <a:rPr lang="en-US" dirty="0" smtClean="0"/>
              <a:t>This graph shows the Total Profit in Agriculture By Various Seasons.</a:t>
            </a:r>
            <a:endParaRPr lang="en-US"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1336754" y="5560840"/>
            <a:ext cx="5644959" cy="477520"/>
          </a:xfrm>
        </p:spPr>
        <p:txBody>
          <a:bodyPr>
            <a:normAutofit/>
          </a:bodyPr>
          <a:lstStyle/>
          <a:p>
            <a:pPr marL="0" indent="0">
              <a:buNone/>
            </a:pPr>
            <a:r>
              <a:rPr lang="en-IN" sz="1800" dirty="0" smtClean="0"/>
              <a:t>This</a:t>
            </a:r>
            <a:r>
              <a:rPr lang="en-IN" dirty="0"/>
              <a:t> </a:t>
            </a:r>
            <a:r>
              <a:rPr lang="en-IN" sz="1800" dirty="0" smtClean="0"/>
              <a:t>graph shows the Various Crop By Rainfall in mm.</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334" y="1275371"/>
            <a:ext cx="6396019" cy="377776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6852226" y="521267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1103885" y="5639988"/>
            <a:ext cx="7153494" cy="477520"/>
          </a:xfrm>
        </p:spPr>
        <p:txBody>
          <a:bodyPr>
            <a:normAutofit/>
          </a:bodyPr>
          <a:lstStyle/>
          <a:p>
            <a:pPr marL="0" indent="0">
              <a:buNone/>
            </a:pPr>
            <a:r>
              <a:rPr lang="en-IN" sz="1800" dirty="0" smtClean="0"/>
              <a:t>This graph shows Various Crops By their Average Temperature.</a:t>
            </a:r>
            <a:endParaRPr lang="en-IN" sz="18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141" y="1154969"/>
            <a:ext cx="7492982" cy="439074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1258984" y="5648690"/>
            <a:ext cx="6852729" cy="477520"/>
          </a:xfrm>
        </p:spPr>
        <p:txBody>
          <a:bodyPr>
            <a:normAutofit/>
          </a:bodyPr>
          <a:lstStyle/>
          <a:p>
            <a:pPr marL="0" indent="0">
              <a:buNone/>
            </a:pPr>
            <a:r>
              <a:rPr lang="en-US" sz="1800" dirty="0" smtClean="0"/>
              <a:t>This graph shows the Crops grown By Various States.</a:t>
            </a:r>
            <a:endParaRPr lang="en-IN" sz="18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114" y="1275371"/>
            <a:ext cx="7086600" cy="424815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1355464" y="5498084"/>
            <a:ext cx="6863378" cy="477520"/>
          </a:xfrm>
        </p:spPr>
        <p:txBody>
          <a:bodyPr>
            <a:normAutofit/>
          </a:bodyPr>
          <a:lstStyle/>
          <a:p>
            <a:pPr marL="0" indent="0">
              <a:buNone/>
            </a:pPr>
            <a:r>
              <a:rPr lang="en-US" sz="1800" dirty="0" smtClean="0"/>
              <a:t>This graph shows Various Crops by their ideal Soil pH values.</a:t>
            </a:r>
            <a:endParaRPr lang="en-IN" sz="18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199" y="1275371"/>
            <a:ext cx="6882989" cy="397208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848080" y="784121"/>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86658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p:cNvSpPr txBox="1"/>
          <p:nvPr/>
        </p:nvSpPr>
        <p:spPr>
          <a:xfrm>
            <a:off x="946675" y="2043953"/>
            <a:ext cx="8487781" cy="3416320"/>
          </a:xfrm>
          <a:prstGeom prst="rect">
            <a:avLst/>
          </a:prstGeom>
          <a:noFill/>
        </p:spPr>
        <p:txBody>
          <a:bodyPr wrap="square" rtlCol="0">
            <a:spAutoFit/>
          </a:bodyPr>
          <a:lstStyle/>
          <a:p>
            <a:r>
              <a:rPr lang="en-US" dirty="0"/>
              <a:t>The </a:t>
            </a:r>
            <a:r>
              <a:rPr lang="en-US" sz="1400" dirty="0"/>
              <a:t>project</a:t>
            </a:r>
            <a:r>
              <a:rPr lang="en-US" dirty="0"/>
              <a:t> can be extended by analyzing agricultural performance using larger and more diverse datasets across regions and seasons</a:t>
            </a:r>
            <a:r>
              <a:rPr lang="en-US" dirty="0" smtClean="0"/>
              <a:t>.</a:t>
            </a:r>
          </a:p>
          <a:p>
            <a:r>
              <a:rPr lang="en-US" dirty="0"/>
              <a:t/>
            </a:r>
            <a:br>
              <a:rPr lang="en-US" dirty="0"/>
            </a:br>
            <a:r>
              <a:rPr lang="en-US" dirty="0"/>
              <a:t>Advanced statistical and machine-learning techniques can be applied to improve prediction and identify complex patterns</a:t>
            </a:r>
            <a:r>
              <a:rPr lang="en-US" dirty="0" smtClean="0"/>
              <a:t>.</a:t>
            </a:r>
          </a:p>
          <a:p>
            <a:r>
              <a:rPr lang="en-US" dirty="0"/>
              <a:t/>
            </a:r>
            <a:br>
              <a:rPr lang="en-US" dirty="0"/>
            </a:br>
            <a:r>
              <a:rPr lang="en-US" dirty="0"/>
              <a:t>Future analysis may integrate real-time </a:t>
            </a:r>
            <a:r>
              <a:rPr lang="en-US" dirty="0" err="1" smtClean="0"/>
              <a:t>environmental,resource,and</a:t>
            </a:r>
            <a:r>
              <a:rPr lang="en-US" dirty="0" smtClean="0"/>
              <a:t> </a:t>
            </a:r>
            <a:r>
              <a:rPr lang="en-US" dirty="0"/>
              <a:t>market data for better insights</a:t>
            </a:r>
            <a:r>
              <a:rPr lang="en-US" dirty="0" smtClean="0"/>
              <a:t>.</a:t>
            </a:r>
          </a:p>
          <a:p>
            <a:r>
              <a:rPr lang="en-US" dirty="0"/>
              <a:t/>
            </a:r>
            <a:br>
              <a:rPr lang="en-US" dirty="0"/>
            </a:br>
            <a:r>
              <a:rPr lang="en-US" dirty="0"/>
              <a:t>The findings can support more accurate seasonal </a:t>
            </a:r>
            <a:r>
              <a:rPr lang="en-US" dirty="0" err="1" smtClean="0"/>
              <a:t>planning,resource</a:t>
            </a:r>
            <a:r>
              <a:rPr lang="en-US" dirty="0" smtClean="0"/>
              <a:t> </a:t>
            </a:r>
            <a:r>
              <a:rPr lang="en-US" dirty="0" err="1" smtClean="0"/>
              <a:t>management,and</a:t>
            </a:r>
            <a:r>
              <a:rPr lang="en-US" dirty="0" smtClean="0"/>
              <a:t> </a:t>
            </a:r>
            <a:r>
              <a:rPr lang="en-US" dirty="0"/>
              <a:t>evidence-based decision-making.</a:t>
            </a:r>
          </a:p>
          <a:p>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675956" y="1440318"/>
            <a:ext cx="6563939" cy="369332"/>
          </a:xfrm>
          <a:prstGeom prst="rect">
            <a:avLst/>
          </a:prstGeom>
          <a:noFill/>
        </p:spPr>
        <p:txBody>
          <a:bodyPr wrap="square">
            <a:spAutoFit/>
          </a:bodyPr>
          <a:lstStyle/>
          <a:p>
            <a:r>
              <a:rPr lang="en-US" dirty="0"/>
              <a:t>https://github.com/d61227767-sys/VOIS_Arpit_Intern.git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3868" y="1414772"/>
            <a:ext cx="7518311" cy="44958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1106775" y="4878336"/>
            <a:ext cx="2690673" cy="984581"/>
          </a:xfrm>
        </p:spPr>
        <p:txBody>
          <a:bodyPr>
            <a:normAutofit/>
          </a:bodyPr>
          <a:lstStyle/>
          <a:p>
            <a:r>
              <a:rPr lang="en-IN" smtClean="0"/>
              <a:t>Yours </a:t>
            </a:r>
            <a:r>
              <a:rPr lang="en-IN" dirty="0" smtClean="0"/>
              <a:t>Sincerely</a:t>
            </a:r>
          </a:p>
          <a:p>
            <a:r>
              <a:rPr lang="en-IN" dirty="0" err="1" smtClean="0"/>
              <a:t>Arpit</a:t>
            </a:r>
            <a:r>
              <a:rPr lang="en-IN" dirty="0" smtClean="0"/>
              <a:t> Kumar </a:t>
            </a:r>
            <a:r>
              <a:rPr lang="en-IN" dirty="0"/>
              <a:t>S</a:t>
            </a:r>
            <a:r>
              <a:rPr lang="en-IN" dirty="0" smtClean="0"/>
              <a:t>harma</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terms/"/>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purl.org/dc/elements/1.1/"/>
    <ds:schemaRef ds:uri="http://schemas.microsoft.com/office/2006/metadata/properties"/>
    <ds:schemaRef ds:uri="71af3243-3dd4-4a8d-8c0d-dd76da1f02a5"/>
    <ds:schemaRef ds:uri="http://www.w3.org/XML/1998/namespace"/>
    <ds:schemaRef ds:uri="http://purl.org/dc/dcmityp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1409</TotalTime>
  <Words>239</Words>
  <Application>Microsoft Office PowerPoint</Application>
  <PresentationFormat>Custom</PresentationFormat>
  <Paragraphs>42</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Analysis</vt:lpstr>
      <vt:lpstr>PROBLEM  STATEMENT</vt:lpstr>
      <vt:lpstr>Project Description   This project analyzes agricultural performance across different seasons, regions, and farming conditions.  It examines seasonal patterns, trends, resource usage, environmental factors, and economic outcomes.  The analysis involves data cleaning, statistical techniques, visualization, and comparison of seasonal performance.  The project aims to identify meaningful relationships, variations, and unusual patterns from the dataset.  The findings provide evidence-based insights and recommendations to support better seasonal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105</cp:revision>
  <cp:lastPrinted>2026-09-05T06:22:17Z</cp:lastPrinted>
  <dcterms:created xsi:type="dcterms:W3CDTF">2021-07-11T13:13:15Z</dcterms:created>
  <dcterms:modified xsi:type="dcterms:W3CDTF">2026-09-05T06:24:18Z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